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391deaa0-d774-959b-b5f2-9c218b8ea274}">
          <p14:sldIdLst>
            <p14:sldId id="256"/>
          </p14:sldIdLst>
        </p14:section>
        <p14:section name="Problem" id="{ee20d4ce-8f61-b400-b656-61a68e02c2d3}">
          <p14:sldIdLst>
            <p14:sldId id="257"/>
            <p14:sldId id="258"/>
          </p14:sldIdLst>
        </p14:section>
        <p14:section name="Solution" id="{06ead337-1e66-9b9f-1539-df60d5288187}">
          <p14:sldIdLst>
            <p14:sldId id="259"/>
            <p14:sldId id="260"/>
            <p14:sldId id="261"/>
            <p14:sldId id="262"/>
          </p14:sldIdLst>
        </p14:section>
        <p14:section name="Impact" id="{681f8301-0f16-28df-a56b-3bdfa760cf1f}">
          <p14:sldIdLst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(10s): We are SafeFlight. A low-cost edge shield that protects birds and turbines.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(30s): Blades blur and vanish to birds, raptors can't dodge, owls are silent, and sparks threaten fires.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(20s): Radar costs millions; we cost about forty dollars.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(25s): A localized, low-cost, low-latency shield using fused sensor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Sensors (30s): Ultrasonic sees mass, sound hears flocks, LDR adapts to low visibility, flame sensor guards internals.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(25s): Sense, process, act, with manual and automatic sensitivity 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Defense (30s): Scare first, brake if needed, display everything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Components (15s): Everything comes from the provided 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(15s): Eleven parts, about forty dollars, more than 98 percent cheaper than radar.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(15s): TinyML species classification and LoRaWAN mesh across a wind farm.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(10s): Tagline, thank the judges,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8016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i="1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SafeFlight Avian Shield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80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SafeFlight Avian Shield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SafeFlight: Shielding Nature, Powering Progress.</a:t>
            </a:r>
            <a:endParaRPr lang="en-US" sz="2000" dirty="0"/>
          </a:p>
        </p:txBody>
      </p:sp>
      <p:sp>
        <p:nvSpPr>
          <p:cNvPr id="4" name="Leaf icon bg"/>
          <p:cNvSpPr/>
          <p:nvPr/>
        </p:nvSpPr>
        <p:spPr>
          <a:xfrm>
            <a:off x="7315200" y="50292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Leaf icon" descr="Leaf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6660" y="7543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Robotics &amp; AI / Hardware Track  |  24-Hour Hackathon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Clean Energy, Hidden Hazard</a:t>
            </a:r>
            <a:endParaRPr lang="en-US" sz="3600" dirty="0"/>
          </a:p>
        </p:txBody>
      </p:sp>
      <p:sp>
        <p:nvSpPr>
          <p:cNvPr id="3" name="Card Motion Smear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Motion Smear icon bg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Motion Smear icon" descr="Motion Smea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Smear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57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Blade tips exceed 200 km/h. The spinning blades blur into an optical illusion that makes them invisible to oncoming birds.</a:t>
            </a:r>
            <a:endParaRPr lang="en-US" sz="1400" dirty="0"/>
          </a:p>
        </p:txBody>
      </p:sp>
      <p:sp>
        <p:nvSpPr>
          <p:cNvPr id="8" name="Card Heavy Raptors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Heavy Raptors icon bg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Heavy Raptors icon" descr="Heavy Rapto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Raptors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2057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High-mass raptors carry too much aerodynamic momentum to make a last-second evasive maneuver.</a:t>
            </a:r>
            <a:endParaRPr lang="en-US" sz="1400" dirty="0"/>
          </a:p>
        </p:txBody>
      </p:sp>
      <p:sp>
        <p:nvSpPr>
          <p:cNvPr id="13" name="Card Silent Owls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Silent Owls icon bg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Silent Owls icon" descr="Silent Owl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154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Owls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840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Nocturnal apex predators hunt in absolute silence, so traditional acoustic monitoring is ineffective.</a:t>
            </a:r>
            <a:endParaRPr lang="en-US" sz="1400" dirty="0"/>
          </a:p>
        </p:txBody>
      </p:sp>
      <p:sp>
        <p:nvSpPr>
          <p:cNvPr id="18" name="Card Friction Sparks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Friction Sparks icon bg"/>
          <p:cNvSpPr/>
          <p:nvPr/>
        </p:nvSpPr>
        <p:spPr>
          <a:xfrm>
            <a:off x="4846320" y="31546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Friction Sparks icon" descr="Friction Spark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918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3154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Friction Sparks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840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Intense internal friction can cause undetected sparks, risking structural fires and grid failures.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Cost Barrier</a:t>
            </a:r>
            <a:endParaRPr lang="en-US" sz="3600" dirty="0"/>
          </a:p>
        </p:txBody>
      </p:sp>
      <p:sp>
        <p:nvSpPr>
          <p:cNvPr id="3" name="Radar card"/>
          <p:cNvSpPr/>
          <p:nvPr/>
        </p:nvSpPr>
        <p:spPr>
          <a:xfrm>
            <a:off x="457200" y="1188720"/>
            <a:ext cx="374904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Military-grade radar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of dollars per installation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91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An insurmountable barrier for 95% of global renewable energy networks.</a:t>
            </a:r>
            <a:endParaRPr lang="en-US" sz="1400" dirty="0"/>
          </a:p>
        </p:txBody>
      </p:sp>
      <p:sp>
        <p:nvSpPr>
          <p:cNvPr id="8" name="SafeFlight card"/>
          <p:cNvSpPr/>
          <p:nvPr/>
        </p:nvSpPr>
        <p:spPr>
          <a:xfrm>
            <a:off x="4937760" y="1188720"/>
            <a:ext cx="3749040" cy="3246120"/>
          </a:xfrm>
          <a:prstGeom prst="roundRect">
            <a:avLst>
              <a:gd name="adj" fmla="val 338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6636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SafeFlight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construction cost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3291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 98% lower capital barrier, helping developers meet strict wildlife preservation laws affordably.</a:t>
            </a:r>
            <a:endParaRPr lang="en-US" sz="1400" dirty="0"/>
          </a:p>
        </p:txBody>
      </p:sp>
      <p:sp>
        <p:nvSpPr>
          <p:cNvPr id="13" name="VS badge"/>
          <p:cNvSpPr/>
          <p:nvPr/>
        </p:nvSpPr>
        <p:spPr>
          <a:xfrm>
            <a:off x="4251960" y="2468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Solution: A Localized Edge Shield</a:t>
            </a:r>
            <a:endParaRPr lang="en-US" sz="3600" dirty="0"/>
          </a:p>
        </p:txBody>
      </p:sp>
      <p:sp>
        <p:nvSpPr>
          <p:cNvPr id="3" name="Row Low-cost"/>
          <p:cNvSpPr/>
          <p:nvPr/>
        </p:nvSpPr>
        <p:spPr>
          <a:xfrm>
            <a:off x="457200" y="118872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Low-cost icon bg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Low-cost icon" descr="Low-cos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5201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Low-cost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6276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Built entirely from standard, accessible off-the-shelf components.</a:t>
            </a:r>
            <a:endParaRPr lang="en-US" sz="1300" dirty="0"/>
          </a:p>
        </p:txBody>
      </p:sp>
      <p:sp>
        <p:nvSpPr>
          <p:cNvPr id="8" name="Row Low-latency"/>
          <p:cNvSpPr/>
          <p:nvPr/>
        </p:nvSpPr>
        <p:spPr>
          <a:xfrm>
            <a:off x="457200" y="228600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Low-latency icon bg"/>
          <p:cNvSpPr/>
          <p:nvPr/>
        </p:nvSpPr>
        <p:spPr>
          <a:xfrm>
            <a:off x="640080" y="24688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Low-latency icon" descr="Low-latency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261747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Low-latency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463040" y="27249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Edge computing processes everything locally in under 200 milliseconds.</a:t>
            </a:r>
            <a:endParaRPr lang="en-US" sz="1300" dirty="0"/>
          </a:p>
        </p:txBody>
      </p:sp>
      <p:sp>
        <p:nvSpPr>
          <p:cNvPr id="13" name="Row Multi-channel fusion"/>
          <p:cNvSpPr/>
          <p:nvPr/>
        </p:nvSpPr>
        <p:spPr>
          <a:xfrm>
            <a:off x="457200" y="338328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Multi-channel fusion icon bg"/>
          <p:cNvSpPr/>
          <p:nvPr/>
        </p:nvSpPr>
        <p:spPr>
          <a:xfrm>
            <a:off x="640080" y="356616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Multi-channel fusion icon" descr="Multi-channel fusio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371475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Multi-channel fusion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38221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Active data fusion across a sensor array eliminates environmental blind spots.</a:t>
            </a:r>
            <a:endParaRPr lang="en-US" sz="1300" dirty="0"/>
          </a:p>
        </p:txBody>
      </p:sp>
      <p:sp>
        <p:nvSpPr>
          <p:cNvPr id="18" name="Latency panel"/>
          <p:cNvSpPr/>
          <p:nvPr/>
        </p:nvSpPr>
        <p:spPr>
          <a:xfrm>
            <a:off x="5852160" y="1188720"/>
            <a:ext cx="2834640" cy="3154680"/>
          </a:xfrm>
          <a:prstGeom prst="roundRect">
            <a:avLst>
              <a:gd name="adj" fmla="val 38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035040" y="16459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&lt;200</a:t>
            </a:r>
            <a:endParaRPr lang="en-US" sz="6000" dirty="0"/>
          </a:p>
        </p:txBody>
      </p:sp>
      <p:sp>
        <p:nvSpPr>
          <p:cNvPr id="20" name="Text 15"/>
          <p:cNvSpPr txBox="1"/>
          <p:nvPr/>
        </p:nvSpPr>
        <p:spPr>
          <a:xfrm>
            <a:off x="6035040" y="28346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milliseconds from sensor input to hardware response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Four-Sensor Fusion Array</a:t>
            </a:r>
            <a:endParaRPr lang="en-US" sz="3600" dirty="0"/>
          </a:p>
        </p:txBody>
      </p:sp>
      <p:sp>
        <p:nvSpPr>
          <p:cNvPr id="3" name="Card Ultrasonic Array"/>
          <p:cNvSpPr/>
          <p:nvPr/>
        </p:nvSpPr>
        <p:spPr>
          <a:xfrm>
            <a:off x="457200" y="1188720"/>
            <a:ext cx="1920240" cy="3246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Ultrasonic Array icon bg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Ultrasonic Array icon" descr="Ultrasonic Arra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316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Ultrasonic Array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4320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Scans airspace with 40 kHz sonar pulses to detect approaching physical mass, bypassing the visual limits that deceive wildlife.</a:t>
            </a:r>
            <a:endParaRPr lang="en-US" sz="1300" dirty="0"/>
          </a:p>
        </p:txBody>
      </p:sp>
      <p:sp>
        <p:nvSpPr>
          <p:cNvPr id="8" name="Card Active Sound Sensor"/>
          <p:cNvSpPr/>
          <p:nvPr/>
        </p:nvSpPr>
        <p:spPr>
          <a:xfrm>
            <a:off x="2542032" y="1188720"/>
            <a:ext cx="1920240" cy="3246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Active Sound Sensor icon bg"/>
          <p:cNvSpPr/>
          <p:nvPr/>
        </p:nvSpPr>
        <p:spPr>
          <a:xfrm>
            <a:off x="2724912" y="13716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Active Sound Sensor icon" descr="Active Sound Senso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932" y="15316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24912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Sound Sensor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724912" y="274320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Monitors for migratory flock vocalizations and rapid wind cuts.</a:t>
            </a:r>
            <a:endParaRPr lang="en-US" sz="1300" dirty="0"/>
          </a:p>
        </p:txBody>
      </p:sp>
      <p:sp>
        <p:nvSpPr>
          <p:cNvPr id="13" name="Card Ambient Light (LDR)"/>
          <p:cNvSpPr/>
          <p:nvPr/>
        </p:nvSpPr>
        <p:spPr>
          <a:xfrm>
            <a:off x="4626864" y="1188720"/>
            <a:ext cx="1920240" cy="3246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Ambient Light (LDR) icon bg"/>
          <p:cNvSpPr/>
          <p:nvPr/>
        </p:nvSpPr>
        <p:spPr>
          <a:xfrm>
            <a:off x="4809744" y="137160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Ambient Light (LDR) icon" descr="Ambient Light (LDR)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764" y="15316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09744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Light (LDR)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809744" y="274320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voltage-divider circuit tracks twilight and fog. Software widens the safety perimeter in hunting or low-visibility windows.</a:t>
            </a:r>
            <a:endParaRPr lang="en-US" sz="1300" dirty="0"/>
          </a:p>
        </p:txBody>
      </p:sp>
      <p:sp>
        <p:nvSpPr>
          <p:cNvPr id="18" name="Card IR Flame Sensor"/>
          <p:cNvSpPr/>
          <p:nvPr/>
        </p:nvSpPr>
        <p:spPr>
          <a:xfrm>
            <a:off x="6711696" y="1188720"/>
            <a:ext cx="1920240" cy="3246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IR Flame Sensor icon bg"/>
          <p:cNvSpPr/>
          <p:nvPr/>
        </p:nvSpPr>
        <p:spPr>
          <a:xfrm>
            <a:off x="6894576" y="13716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R Flame Sensor icon" descr="IR Flame Senso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596" y="15316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94576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 Flame Sensor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894576" y="274320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Continuously checks the internal mechanics of the housing for friction sparks.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Closed-Loop Processing</a:t>
            </a:r>
            <a:endParaRPr lang="en-US" sz="3600" dirty="0"/>
          </a:p>
        </p:txBody>
      </p:sp>
      <p:sp>
        <p:nvSpPr>
          <p:cNvPr id="3" name="Stage SENSE"/>
          <p:cNvSpPr/>
          <p:nvPr/>
        </p:nvSpPr>
        <p:spPr>
          <a:xfrm>
            <a:off x="457200" y="1188720"/>
            <a:ext cx="2377440" cy="237744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SENSE icon bg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SENSE icon" descr="SENS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60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Ultrasonic, sound, light and flame streams arrive together.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2907792" y="2148840"/>
            <a:ext cx="402336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age PROCESS"/>
          <p:cNvSpPr/>
          <p:nvPr/>
        </p:nvSpPr>
        <p:spPr>
          <a:xfrm>
            <a:off x="3383280" y="1188720"/>
            <a:ext cx="2377440" cy="2377440"/>
          </a:xfrm>
          <a:prstGeom prst="roundRect">
            <a:avLst>
              <a:gd name="adj" fmla="val 461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ROCESS icon bg"/>
          <p:cNvSpPr/>
          <p:nvPr/>
        </p:nvSpPr>
        <p:spPr>
          <a:xfrm>
            <a:off x="3566160" y="137160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PROCESS icon" descr="PROCES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508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560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Native C++ on the Arduino IDE parses every stream simultaneously in under 200 ms.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5833872" y="2148840"/>
            <a:ext cx="402336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age ACT"/>
          <p:cNvSpPr/>
          <p:nvPr/>
        </p:nvSpPr>
        <p:spPr>
          <a:xfrm>
            <a:off x="6309360" y="1188720"/>
            <a:ext cx="2377440" cy="2377440"/>
          </a:xfrm>
          <a:prstGeom prst="roundRect">
            <a:avLst>
              <a:gd name="adj" fmla="val 461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ACT icon bg"/>
          <p:cNvSpPr/>
          <p:nvPr/>
        </p:nvSpPr>
        <p:spPr>
          <a:xfrm>
            <a:off x="6492240" y="137160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7" name="ACT icon" descr="AC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5087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9224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2560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Relay alarm, servo brake and live telemetry fire in a multi-tiered defense.</a:t>
            </a:r>
            <a:endParaRPr lang="en-US" sz="1400" dirty="0"/>
          </a:p>
        </p:txBody>
      </p:sp>
      <p:sp>
        <p:nvSpPr>
          <p:cNvPr id="20" name="Calibration chip"/>
          <p:cNvSpPr/>
          <p:nvPr/>
        </p:nvSpPr>
        <p:spPr>
          <a:xfrm>
            <a:off x="457200" y="379476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40080" y="3794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Potentiometer: manual perimeter sensitivity dial</a:t>
            </a:r>
            <a:endParaRPr lang="en-US" sz="1400" dirty="0"/>
          </a:p>
        </p:txBody>
      </p:sp>
      <p:sp>
        <p:nvSpPr>
          <p:cNvPr id="22" name="LDR chip"/>
          <p:cNvSpPr/>
          <p:nvPr/>
        </p:nvSpPr>
        <p:spPr>
          <a:xfrm>
            <a:off x="4663440" y="379476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846320" y="3794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LDR: auto-expands thresholds in low visibility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Three-Tier Defense</a:t>
            </a:r>
            <a:endParaRPr lang="en-US" sz="3600" dirty="0"/>
          </a:p>
        </p:txBody>
      </p:sp>
      <p:sp>
        <p:nvSpPr>
          <p:cNvPr id="3" name="Tier 1"/>
          <p:cNvSpPr/>
          <p:nvPr/>
        </p:nvSpPr>
        <p:spPr>
          <a:xfrm>
            <a:off x="457200" y="118872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ier number 1"/>
          <p:cNvSpPr/>
          <p:nvPr/>
        </p:nvSpPr>
        <p:spPr>
          <a:xfrm>
            <a:off x="640080" y="135331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53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Acoustic Displacement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processor trips a single-channel 5V relay, closing an isolated loop that triggers a high-frequency acoustic alarm. Birds are startled and turn away before the rotor radius.</a:t>
            </a:r>
            <a:endParaRPr lang="en-US" sz="1250" dirty="0"/>
          </a:p>
        </p:txBody>
      </p:sp>
      <p:sp>
        <p:nvSpPr>
          <p:cNvPr id="8" name="Tag 1"/>
          <p:cNvSpPr/>
          <p:nvPr/>
        </p:nvSpPr>
        <p:spPr>
          <a:xfrm>
            <a:off x="640080" y="4023360"/>
            <a:ext cx="22402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0233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5V Relay Module</a:t>
            </a:r>
            <a:endParaRPr lang="en-US" sz="1200" dirty="0"/>
          </a:p>
        </p:txBody>
      </p:sp>
      <p:sp>
        <p:nvSpPr>
          <p:cNvPr id="10" name="Tier 2"/>
          <p:cNvSpPr/>
          <p:nvPr/>
        </p:nvSpPr>
        <p:spPr>
          <a:xfrm>
            <a:off x="3273552" y="118872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ier number 2"/>
          <p:cNvSpPr/>
          <p:nvPr/>
        </p:nvSpPr>
        <p:spPr>
          <a:xfrm>
            <a:off x="3456432" y="1353312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6432" y="1353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456432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Aerodynamic Braking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242316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If the threat keeps closing, the servo (the rotor hub) overrides its smooth cycle and snaps to a hard brake angle, simulating blade feathering to stop rotation before impact.</a:t>
            </a:r>
            <a:endParaRPr lang="en-US" sz="1250" dirty="0"/>
          </a:p>
        </p:txBody>
      </p:sp>
      <p:sp>
        <p:nvSpPr>
          <p:cNvPr id="15" name="Tag 2"/>
          <p:cNvSpPr/>
          <p:nvPr/>
        </p:nvSpPr>
        <p:spPr>
          <a:xfrm>
            <a:off x="3456432" y="4023360"/>
            <a:ext cx="22402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56432" y="40233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Micro Servo Motor</a:t>
            </a:r>
            <a:endParaRPr lang="en-US" sz="1200" dirty="0"/>
          </a:p>
        </p:txBody>
      </p:sp>
      <p:sp>
        <p:nvSpPr>
          <p:cNvPr id="17" name="Tier 3"/>
          <p:cNvSpPr/>
          <p:nvPr/>
        </p:nvSpPr>
        <p:spPr>
          <a:xfrm>
            <a:off x="6089904" y="118872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ier number 3"/>
          <p:cNvSpPr/>
          <p:nvPr/>
        </p:nvSpPr>
        <p:spPr>
          <a:xfrm>
            <a:off x="6272784" y="1353312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72784" y="1353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Logging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242316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Ongoing safety statistics and grid performance variations display live for real-time diagnostics and verification.</a:t>
            </a:r>
            <a:endParaRPr lang="en-US" sz="1250" dirty="0"/>
          </a:p>
        </p:txBody>
      </p:sp>
      <p:sp>
        <p:nvSpPr>
          <p:cNvPr id="22" name="Tag 3"/>
          <p:cNvSpPr/>
          <p:nvPr/>
        </p:nvSpPr>
        <p:spPr>
          <a:xfrm>
            <a:off x="6272784" y="4023360"/>
            <a:ext cx="22402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72784" y="40233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I2C LCD + LED Matrix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11 Components, One Unified Build</a:t>
            </a:r>
            <a:endParaRPr lang="en-US" sz="3600" dirty="0"/>
          </a:p>
        </p:txBody>
      </p:sp>
      <p:sp>
        <p:nvSpPr>
          <p:cNvPr id="3" name="Part Ultrasonic Array"/>
          <p:cNvSpPr/>
          <p:nvPr/>
        </p:nvSpPr>
        <p:spPr>
          <a:xfrm>
            <a:off x="457200" y="118872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Ultrasonic Array icon bg"/>
          <p:cNvSpPr/>
          <p:nvPr/>
        </p:nvSpPr>
        <p:spPr>
          <a:xfrm>
            <a:off x="594360" y="1417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Ultrasonic Array icon" descr="Ultrasonic Arra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18872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Ultrasonic Array</a:t>
            </a:r>
            <a:endParaRPr lang="en-US" sz="1300" dirty="0"/>
          </a:p>
        </p:txBody>
      </p:sp>
      <p:sp>
        <p:nvSpPr>
          <p:cNvPr id="7" name="Part Sound Sensor"/>
          <p:cNvSpPr/>
          <p:nvPr/>
        </p:nvSpPr>
        <p:spPr>
          <a:xfrm>
            <a:off x="2542032" y="118872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Sound Sensor icon bg"/>
          <p:cNvSpPr/>
          <p:nvPr/>
        </p:nvSpPr>
        <p:spPr>
          <a:xfrm>
            <a:off x="2679192" y="14173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Sound Sensor icon" descr="Sound Senso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922" y="15430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91840" y="118872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Sound Sensor</a:t>
            </a:r>
            <a:endParaRPr lang="en-US" sz="1300" dirty="0"/>
          </a:p>
        </p:txBody>
      </p:sp>
      <p:sp>
        <p:nvSpPr>
          <p:cNvPr id="11" name="Part LDR Light Sensor"/>
          <p:cNvSpPr/>
          <p:nvPr/>
        </p:nvSpPr>
        <p:spPr>
          <a:xfrm>
            <a:off x="4626864" y="118872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LDR Light Sensor icon bg"/>
          <p:cNvSpPr/>
          <p:nvPr/>
        </p:nvSpPr>
        <p:spPr>
          <a:xfrm>
            <a:off x="4764024" y="141732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LDR Light Sensor icon" descr="LDR Light Senso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754" y="15430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76672" y="118872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LDR Light Sensor</a:t>
            </a:r>
            <a:endParaRPr lang="en-US" sz="1300" dirty="0"/>
          </a:p>
        </p:txBody>
      </p:sp>
      <p:sp>
        <p:nvSpPr>
          <p:cNvPr id="15" name="Part IR Flame Sensor"/>
          <p:cNvSpPr/>
          <p:nvPr/>
        </p:nvSpPr>
        <p:spPr>
          <a:xfrm>
            <a:off x="6711696" y="118872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IR Flame Sensor icon bg"/>
          <p:cNvSpPr/>
          <p:nvPr/>
        </p:nvSpPr>
        <p:spPr>
          <a:xfrm>
            <a:off x="6848856" y="1417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R Flame Sensor icon" descr="IR Flame Senso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586" y="154305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61504" y="118872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IR Flame Sensor</a:t>
            </a:r>
            <a:endParaRPr lang="en-US" sz="1300" dirty="0"/>
          </a:p>
        </p:txBody>
      </p:sp>
      <p:sp>
        <p:nvSpPr>
          <p:cNvPr id="19" name="Part 5V Relay Module"/>
          <p:cNvSpPr/>
          <p:nvPr/>
        </p:nvSpPr>
        <p:spPr>
          <a:xfrm>
            <a:off x="457200" y="228600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5V Relay Module icon bg"/>
          <p:cNvSpPr/>
          <p:nvPr/>
        </p:nvSpPr>
        <p:spPr>
          <a:xfrm>
            <a:off x="594360" y="2514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5V Relay Module icon" descr="5V Relay Modu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264033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07008" y="228600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5V Relay Module</a:t>
            </a:r>
            <a:endParaRPr lang="en-US" sz="1300" dirty="0"/>
          </a:p>
        </p:txBody>
      </p:sp>
      <p:sp>
        <p:nvSpPr>
          <p:cNvPr id="23" name="Part Micro Servo Motor"/>
          <p:cNvSpPr/>
          <p:nvPr/>
        </p:nvSpPr>
        <p:spPr>
          <a:xfrm>
            <a:off x="2542032" y="228600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Micro Servo Motor icon bg"/>
          <p:cNvSpPr/>
          <p:nvPr/>
        </p:nvSpPr>
        <p:spPr>
          <a:xfrm>
            <a:off x="2679192" y="25146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Micro Servo Motor icon" descr="Micro Servo Motor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4922" y="2640330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291840" y="228600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Micro Servo Motor</a:t>
            </a:r>
            <a:endParaRPr lang="en-US" sz="1300" dirty="0"/>
          </a:p>
        </p:txBody>
      </p:sp>
      <p:sp>
        <p:nvSpPr>
          <p:cNvPr id="27" name="Part I2C LCD Display"/>
          <p:cNvSpPr/>
          <p:nvPr/>
        </p:nvSpPr>
        <p:spPr>
          <a:xfrm>
            <a:off x="4626864" y="228600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I2C LCD Display icon bg"/>
          <p:cNvSpPr/>
          <p:nvPr/>
        </p:nvSpPr>
        <p:spPr>
          <a:xfrm>
            <a:off x="4764024" y="251460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9" name="I2C LCD Display icon" descr="I2C LCD Display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9754" y="2640330"/>
            <a:ext cx="251460" cy="2514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376672" y="228600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I2C LCD Display</a:t>
            </a:r>
            <a:endParaRPr lang="en-US" sz="1300" dirty="0"/>
          </a:p>
        </p:txBody>
      </p:sp>
      <p:sp>
        <p:nvSpPr>
          <p:cNvPr id="31" name="Part LED Matrix"/>
          <p:cNvSpPr/>
          <p:nvPr/>
        </p:nvSpPr>
        <p:spPr>
          <a:xfrm>
            <a:off x="6711696" y="228600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2" name="LED Matrix icon bg"/>
          <p:cNvSpPr/>
          <p:nvPr/>
        </p:nvSpPr>
        <p:spPr>
          <a:xfrm>
            <a:off x="6848856" y="2514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3" name="LED Matrix icon" descr="LED Matrix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4586" y="2640330"/>
            <a:ext cx="251460" cy="25146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461504" y="228600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LED Matrix</a:t>
            </a:r>
            <a:endParaRPr lang="en-US" sz="1300" dirty="0"/>
          </a:p>
        </p:txBody>
      </p:sp>
      <p:sp>
        <p:nvSpPr>
          <p:cNvPr id="35" name="Part Potentiometer"/>
          <p:cNvSpPr/>
          <p:nvPr/>
        </p:nvSpPr>
        <p:spPr>
          <a:xfrm>
            <a:off x="457200" y="338328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Potentiometer icon bg"/>
          <p:cNvSpPr/>
          <p:nvPr/>
        </p:nvSpPr>
        <p:spPr>
          <a:xfrm>
            <a:off x="594360" y="3611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Potentiometer icon" descr="Potentiometer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090" y="3737610"/>
            <a:ext cx="251460" cy="25146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207008" y="338328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Potentiometer</a:t>
            </a:r>
            <a:endParaRPr lang="en-US" sz="1300" dirty="0"/>
          </a:p>
        </p:txBody>
      </p:sp>
      <p:sp>
        <p:nvSpPr>
          <p:cNvPr id="39" name="Part Solar Panel"/>
          <p:cNvSpPr/>
          <p:nvPr/>
        </p:nvSpPr>
        <p:spPr>
          <a:xfrm>
            <a:off x="2542032" y="338328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0" name="Solar Panel icon bg"/>
          <p:cNvSpPr/>
          <p:nvPr/>
        </p:nvSpPr>
        <p:spPr>
          <a:xfrm>
            <a:off x="2679192" y="36118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Solar Panel icon" descr="Solar Panel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4922" y="3737610"/>
            <a:ext cx="251460" cy="25146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3291840" y="338328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Solar Panel</a:t>
            </a:r>
            <a:endParaRPr lang="en-US" sz="1300" dirty="0"/>
          </a:p>
        </p:txBody>
      </p:sp>
      <p:sp>
        <p:nvSpPr>
          <p:cNvPr id="43" name="Part Arduino Board"/>
          <p:cNvSpPr/>
          <p:nvPr/>
        </p:nvSpPr>
        <p:spPr>
          <a:xfrm>
            <a:off x="4626864" y="338328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4" name="Arduino Board icon bg"/>
          <p:cNvSpPr/>
          <p:nvPr/>
        </p:nvSpPr>
        <p:spPr>
          <a:xfrm>
            <a:off x="4764024" y="36118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5" name="Arduino Board icon" descr="Arduino Board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9754" y="3737610"/>
            <a:ext cx="251460" cy="25146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5376672" y="338328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Arduino Board</a:t>
            </a:r>
            <a:endParaRPr lang="en-US" sz="1300" dirty="0"/>
          </a:p>
        </p:txBody>
      </p:sp>
      <p:sp>
        <p:nvSpPr>
          <p:cNvPr id="47" name="Total tile"/>
          <p:cNvSpPr/>
          <p:nvPr/>
        </p:nvSpPr>
        <p:spPr>
          <a:xfrm>
            <a:off x="6711696" y="338328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8" name="Text 35"/>
          <p:cNvSpPr txBox="1"/>
          <p:nvPr/>
        </p:nvSpPr>
        <p:spPr>
          <a:xfrm>
            <a:off x="6711696" y="338328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parts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Feasibility and Viability</a:t>
            </a:r>
            <a:endParaRPr lang="en-US" sz="3600" dirty="0"/>
          </a:p>
        </p:txBody>
      </p:sp>
      <p:sp>
        <p:nvSpPr>
          <p:cNvPr id="3" name="Stat 1"/>
          <p:cNvSpPr/>
          <p:nvPr/>
        </p:nvSpPr>
        <p:spPr>
          <a:xfrm>
            <a:off x="457200" y="118872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40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kit components, maximum utility</a:t>
            </a:r>
            <a:endParaRPr lang="en-US" sz="1400" dirty="0"/>
          </a:p>
        </p:txBody>
      </p:sp>
      <p:sp>
        <p:nvSpPr>
          <p:cNvPr id="6" name="Stat 2"/>
          <p:cNvSpPr/>
          <p:nvPr/>
        </p:nvSpPr>
        <p:spPr>
          <a:xfrm>
            <a:off x="2542032" y="118872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9192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679192" y="2240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approximate build cost</a:t>
            </a:r>
            <a:endParaRPr lang="en-US" sz="1400" dirty="0"/>
          </a:p>
        </p:txBody>
      </p:sp>
      <p:sp>
        <p:nvSpPr>
          <p:cNvPr id="9" name="Stat 3"/>
          <p:cNvSpPr/>
          <p:nvPr/>
        </p:nvSpPr>
        <p:spPr>
          <a:xfrm>
            <a:off x="4626864" y="118872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64024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98%+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764024" y="2240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cheaper than traditional radar</a:t>
            </a:r>
            <a:endParaRPr lang="en-US" sz="1400" dirty="0"/>
          </a:p>
        </p:txBody>
      </p:sp>
      <p:sp>
        <p:nvSpPr>
          <p:cNvPr id="12" name="Stat 4"/>
          <p:cNvSpPr/>
          <p:nvPr/>
        </p:nvSpPr>
        <p:spPr>
          <a:xfrm>
            <a:off x="6711696" y="118872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48856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&lt;200 ms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848856" y="2240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sensor-to-action latency</a:t>
            </a:r>
            <a:endParaRPr lang="en-US" sz="1400" dirty="0"/>
          </a:p>
        </p:txBody>
      </p:sp>
      <p:sp>
        <p:nvSpPr>
          <p:cNvPr id="15" name="Note 1"/>
          <p:cNvSpPr/>
          <p:nvPr/>
        </p:nvSpPr>
        <p:spPr>
          <a:xfrm>
            <a:off x="457200" y="342900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Note icon 1 bg"/>
          <p:cNvSpPr/>
          <p:nvPr/>
        </p:nvSpPr>
        <p:spPr>
          <a:xfrm>
            <a:off x="640080" y="3657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Note icon 1" descr="Not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79476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371600" y="34290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Potentiometer as a manual perimeter sensitivity calibration dial.</a:t>
            </a:r>
            <a:endParaRPr lang="en-US" sz="1400" dirty="0"/>
          </a:p>
        </p:txBody>
      </p:sp>
      <p:sp>
        <p:nvSpPr>
          <p:cNvPr id="19" name="Note 2"/>
          <p:cNvSpPr/>
          <p:nvPr/>
        </p:nvSpPr>
        <p:spPr>
          <a:xfrm>
            <a:off x="4663440" y="342900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Note icon 2 bg"/>
          <p:cNvSpPr/>
          <p:nvPr/>
        </p:nvSpPr>
        <p:spPr>
          <a:xfrm>
            <a:off x="4846320" y="3657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Note icon 2" descr="Not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379476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577840" y="34290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Solar panel simulates an off-grid power loop.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Future Scope and Scalability</a:t>
            </a:r>
            <a:endParaRPr lang="en-US" sz="3600" dirty="0"/>
          </a:p>
        </p:txBody>
      </p:sp>
      <p:sp>
        <p:nvSpPr>
          <p:cNvPr id="3" name="Card TinyML Vision"/>
          <p:cNvSpPr/>
          <p:nvPr/>
        </p:nvSpPr>
        <p:spPr>
          <a:xfrm>
            <a:off x="457200" y="1188720"/>
            <a:ext cx="4023360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inyML Vision icon bg"/>
          <p:cNvSpPr/>
          <p:nvPr/>
        </p:nvSpPr>
        <p:spPr>
          <a:xfrm>
            <a:off x="731520" y="1417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TinyML Vision icon" descr="TinyML Visi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77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TinyML Vision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260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Upgrade the processing node to run compressed computer-vision models (TinyML) through a camera interface, classifying specific endangered bird species.</a:t>
            </a:r>
            <a:endParaRPr lang="en-US" sz="1400" dirty="0"/>
          </a:p>
        </p:txBody>
      </p:sp>
      <p:sp>
        <p:nvSpPr>
          <p:cNvPr id="8" name="Card LoRaWAN Mesh"/>
          <p:cNvSpPr/>
          <p:nvPr/>
        </p:nvSpPr>
        <p:spPr>
          <a:xfrm>
            <a:off x="4663440" y="1188720"/>
            <a:ext cx="4023360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LoRaWAN Mesh icon bg"/>
          <p:cNvSpPr/>
          <p:nvPr/>
        </p:nvSpPr>
        <p:spPr>
          <a:xfrm>
            <a:off x="4937760" y="141732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LoRaWAN Mesh icon" descr="LoRaWAN Mes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002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37760" y="2377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LoRaWAN Mesh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9260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Link individual turbine shield nodes across a wind farm with low-power wide-area mesh networking. Detection at an outer tower pre-emptively triggers warning perimeters across the whole local clean energy grid.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80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Shielding Nature, Powering Progress.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Claimed trials: AI Integration Trial (5 pts)  +  Arduino IDE Tool Trial (5 pts)</a:t>
            </a:r>
            <a:endParaRPr lang="en-US" sz="2000" dirty="0"/>
          </a:p>
        </p:txBody>
      </p:sp>
      <p:sp>
        <p:nvSpPr>
          <p:cNvPr id="4" name="Bird icon bg"/>
          <p:cNvSpPr/>
          <p:nvPr/>
        </p:nvSpPr>
        <p:spPr>
          <a:xfrm>
            <a:off x="7863840" y="3657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Bird icon" descr="Bir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548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Thank you  |  Questions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Flight Nature">
  <a:themeElements>
    <a:clrScheme name="SafeFlight Nature">
      <a:dk1>
        <a:srgbClr val="2B3320"/>
      </a:dk1>
      <a:lt1>
        <a:srgbClr val="FFFFFF"/>
      </a:lt1>
      <a:dk2>
        <a:srgbClr val="3E5030"/>
      </a:dk2>
      <a:lt2>
        <a:srgbClr val="F4E5C5"/>
      </a:lt2>
      <a:accent1>
        <a:srgbClr val="657B46"/>
      </a:accent1>
      <a:accent2>
        <a:srgbClr val="E8B166"/>
      </a:accent2>
      <a:accent3>
        <a:srgbClr val="DB7E75"/>
      </a:accent3>
      <a:accent4>
        <a:srgbClr val="7BA3B0"/>
      </a:accent4>
      <a:accent5>
        <a:srgbClr val="8A8F78"/>
      </a:accent5>
      <a:accent6>
        <a:srgbClr val="F4E5C5"/>
      </a:accent6>
      <a:hlink>
        <a:srgbClr val="657B46"/>
      </a:hlink>
      <a:folHlink>
        <a:srgbClr val="8A8F78"/>
      </a:folHlink>
    </a:clrScheme>
    <a:fontScheme name="SafeFlight Natu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SafeFlight Avian Shield</dc:title>
  <dc:subject>PptxGenJS Presentation</dc:subject>
  <dc:creator>PptxGenJS</dc:creator>
  <cp:lastModifiedBy>PptxGenJS</cp:lastModifiedBy>
  <cp:revision>1</cp:revision>
  <dcterms:created xsi:type="dcterms:W3CDTF">2026-10-25T11:23:08Z</dcterms:created>
  <dcterms:modified xsi:type="dcterms:W3CDTF">2026-10-25T11:23:08Z</dcterms:modified>
</cp:coreProperties>
</file>